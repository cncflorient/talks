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3" r:id="rId3"/>
    <p:sldId id="258" r:id="rId4"/>
    <p:sldId id="274" r:id="rId5"/>
    <p:sldId id="260" r:id="rId6"/>
    <p:sldId id="275" r:id="rId7"/>
    <p:sldId id="276" r:id="rId8"/>
    <p:sldId id="290" r:id="rId9"/>
    <p:sldId id="277" r:id="rId10"/>
    <p:sldId id="278" r:id="rId11"/>
    <p:sldId id="268" r:id="rId12"/>
    <p:sldId id="280" r:id="rId13"/>
    <p:sldId id="281" r:id="rId14"/>
    <p:sldId id="287" r:id="rId15"/>
    <p:sldId id="283" r:id="rId16"/>
    <p:sldId id="263" r:id="rId17"/>
    <p:sldId id="289" r:id="rId18"/>
    <p:sldId id="28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EAFF"/>
    <a:srgbClr val="0086FF"/>
    <a:srgbClr val="D62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54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1983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7089-ED17-6946-5EE1-77C9A669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07175-E33E-B6CB-CB3F-00A72E5B5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880E0-56AC-A7B7-7EDC-EB153180D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D74C-DE27-0BCE-D595-88D274AE67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46195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8110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8F266-1016-76CA-BE4B-857FDC00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58C12-6FC3-785C-7C74-63AC8164F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815FA-2F05-FE2F-DA57-594D09926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4B92B-B67B-F01E-8DE9-506301070E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538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8377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1F9D4-6394-87A5-882B-1ED5909B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4E1C7-FB1D-8EFC-8DB0-228FD3475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2D5B3B-02B4-98BC-5140-7CDDB23D1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A3039-4525-FE81-26CB-7B0B67269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1616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template_unz/ppt/media/image21.jpg"/>
          <p:cNvPicPr>
            <a:picLocks noChangeAspect="1"/>
          </p:cNvPicPr>
          <p:nvPr/>
        </p:nvPicPr>
        <p:blipFill>
          <a:blip r:embed="rId3"/>
          <a:srcRect l="23429" r="23429"/>
          <a:stretch/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55080" y="0"/>
            <a:ext cx="5833872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1" descr="/mnt/data/template_unz/ppt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566928"/>
            <a:ext cx="2697480" cy="4297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1792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93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REX &amp; PARCOURS TERRAIN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621792" y="1993392"/>
            <a:ext cx="5440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Tools, agentique et RAG sous Open WebUI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640080" y="3694176"/>
            <a:ext cx="4846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rationaliser les usages </a:t>
            </a:r>
            <a:r>
              <a:rPr lang="en-US" sz="1600" dirty="0" err="1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structurant</a:t>
            </a: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workflows et </a:t>
            </a:r>
            <a:r>
              <a:rPr lang="en-US" sz="1600" dirty="0" err="1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réduisant</a:t>
            </a: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</a:t>
            </a:r>
            <a:r>
              <a:rPr lang="en-US" sz="1600" dirty="0" err="1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appels</a:t>
            </a:r>
            <a:r>
              <a:rPr lang="en-US" sz="1600" dirty="0">
                <a:solidFill>
                  <a:srgbClr val="FFFFFF">
                    <a:alpha val="9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LLM ?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4754880"/>
            <a:ext cx="1737360" cy="0"/>
          </a:xfrm>
          <a:prstGeom prst="line">
            <a:avLst/>
          </a:prstGeom>
          <a:noFill/>
          <a:ln w="50800">
            <a:solidFill>
              <a:srgbClr val="008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40080" y="50109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Meetup Lorient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Yoann Sola &amp; Xavier Daull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PROBLÈME TERRAIN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884504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Problème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une conversation trop libre avec un chatbot IA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coûte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cher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sortie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garantie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maîtrisée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192105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Irritants observables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95025"/>
            <a:ext cx="5029200" cy="1981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Les utilisateurs réécrivent le même prompt de 30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lignes</a:t>
            </a:r>
            <a:b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Les documents sont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injectés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sans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contexte</a:t>
            </a:r>
            <a:endParaRPr lang="en-US" sz="160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Tâche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complexe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novice = poule avec un couteau, expert =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peut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consommer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beaucoup de tokens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La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autres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outputs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sont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freestyle bien que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impressionants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priori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10266"/>
            <a:ext cx="0" cy="3547533"/>
          </a:xfrm>
          <a:prstGeom prst="line">
            <a:avLst/>
          </a:prstGeom>
          <a:noFill/>
          <a:ln w="15240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29400" y="209363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Décision de conception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550829"/>
            <a:ext cx="4069080" cy="19952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Chaque élément récurrent devient une brique nommée: template, skill, KB ou tool.</a:t>
            </a:r>
            <a:b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b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prompt libre reste possible, mais il n’est plus le chemin principal. Il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peut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aussi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être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analysé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pour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déduire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des patterns (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besoins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processus, output)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74739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2/18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BESOIN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Rationaliser: réduire la variabilité inutile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ne rationalise pas seulement les coûts; on rationalise les chemins de réponse.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86384" y="1965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Coûts d’inférence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432304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Éviter d’injecter trop de contexte; appeler les connaissances seulement </a:t>
            </a:r>
            <a:r>
              <a:rPr lang="en-US" sz="15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</a:t>
            </a: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c’est</a:t>
            </a: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utile.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6384" y="3913632"/>
            <a:ext cx="2834640" cy="82296"/>
          </a:xfrm>
          <a:prstGeom prst="rect">
            <a:avLst/>
          </a:prstGeom>
          <a:solidFill>
            <a:srgbClr val="0086FF"/>
          </a:solidFill>
          <a:ln w="12700">
            <a:solidFill>
              <a:srgbClr val="008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52544" y="1965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Vitesse de dev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52544" y="2432304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Créer des briques simples: prompts, tools, modèles presets, KB, connecteurs.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52544" y="3913632"/>
            <a:ext cx="2834640" cy="82296"/>
          </a:xfrm>
          <a:prstGeom prst="rect">
            <a:avLst/>
          </a:prstGeom>
          <a:solidFill>
            <a:srgbClr val="93EAFF"/>
          </a:solidFill>
          <a:ln w="12700">
            <a:solidFill>
              <a:srgbClr val="93EA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918704" y="196596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Appropriation métier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18704" y="2432304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Structurer la saisie et donner une UX familière pour les </a:t>
            </a:r>
            <a:r>
              <a:rPr lang="en-US" sz="15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utilisateurs</a:t>
            </a:r>
            <a:r>
              <a:rPr lang="en-US" sz="15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non-IA.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18704" y="3913632"/>
            <a:ext cx="2834640" cy="82296"/>
          </a:xfrm>
          <a:prstGeom prst="rect">
            <a:avLst/>
          </a:prstGeom>
          <a:solidFill>
            <a:srgbClr val="D62293"/>
          </a:solidFill>
          <a:ln w="12700">
            <a:solidFill>
              <a:srgbClr val="D62293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lang="en-US" sz="85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B7877D5-E2EC-07C2-E224-751A91726F83}"/>
              </a:ext>
            </a:extLst>
          </p:cNvPr>
          <p:cNvSpPr/>
          <p:nvPr/>
        </p:nvSpPr>
        <p:spPr>
          <a:xfrm>
            <a:off x="1676400" y="4807035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Tout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cela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dans un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environnement</a:t>
            </a: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 premise et air </a:t>
            </a:r>
            <a:r>
              <a:rPr lang="en-US" sz="18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gapé</a:t>
            </a:r>
            <a:r>
              <a:rPr lang="en-US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GESTE MÉTIER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</a:t>
            </a:r>
            <a:r>
              <a:rPr lang="en-US" sz="2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utilisateur</a:t>
            </a:r>
            <a:r>
              <a:rPr lang="en-US" sz="2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“par </a:t>
            </a:r>
            <a:r>
              <a:rPr lang="en-US" sz="26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défaut</a:t>
            </a:r>
            <a:r>
              <a:rPr lang="en-US" sz="2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468876" y="1874520"/>
            <a:ext cx="420624" cy="420624"/>
          </a:xfrm>
          <a:prstGeom prst="rect">
            <a:avLst/>
          </a:prstGeom>
          <a:solidFill>
            <a:srgbClr val="0086FF"/>
          </a:solidFill>
          <a:ln>
            <a:solidFill>
              <a:srgbClr val="0086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8707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Choisir un preset</a:t>
            </a:r>
            <a:endParaRPr lang="en-US" sz="1340" dirty="0"/>
          </a:p>
        </p:txBody>
      </p:sp>
      <p:sp>
        <p:nvSpPr>
          <p:cNvPr id="7" name="Text 5"/>
          <p:cNvSpPr/>
          <p:nvPr/>
        </p:nvSpPr>
        <p:spPr>
          <a:xfrm>
            <a:off x="1928707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métier, droits</a:t>
            </a:r>
          </a:p>
          <a:p>
            <a:pPr marL="0" indent="0">
              <a:buNone/>
            </a:pPr>
            <a:r>
              <a:rPr lang="en-US" sz="1220" dirty="0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Choix du package : </a:t>
            </a:r>
            <a:r>
              <a:rPr lang="en-US" sz="1220" dirty="0" err="1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</a:t>
            </a:r>
            <a:r>
              <a:rPr lang="en-US" sz="1220" dirty="0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KB + tool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4618393" y="1876890"/>
            <a:ext cx="420624" cy="420624"/>
          </a:xfrm>
          <a:prstGeom prst="rect">
            <a:avLst/>
          </a:prstGeom>
          <a:solidFill>
            <a:srgbClr val="93EAFF"/>
          </a:solidFill>
          <a:ln>
            <a:solidFill>
              <a:srgbClr val="93EA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77547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Lancer un template</a:t>
            </a:r>
            <a:endParaRPr lang="en-US" sz="1340" dirty="0"/>
          </a:p>
        </p:txBody>
      </p:sp>
      <p:sp>
        <p:nvSpPr>
          <p:cNvPr id="10" name="Text 8"/>
          <p:cNvSpPr/>
          <p:nvPr/>
        </p:nvSpPr>
        <p:spPr>
          <a:xfrm>
            <a:off x="4077547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slash command + formulaire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874755" y="1874520"/>
            <a:ext cx="420624" cy="420624"/>
          </a:xfrm>
          <a:prstGeom prst="rect">
            <a:avLst/>
          </a:prstGeom>
          <a:solidFill>
            <a:srgbClr val="102D3F"/>
          </a:solidFill>
          <a:ln>
            <a:solidFill>
              <a:srgbClr val="102D3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Montserrat" pitchFamily="34" charset="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6222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Exécuter le tool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6216222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analyse, synthèse, génération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65062" y="2542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Valider le livrable</a:t>
            </a:r>
            <a:endParaRPr lang="en-US" sz="1340" dirty="0"/>
          </a:p>
        </p:txBody>
      </p:sp>
      <p:sp>
        <p:nvSpPr>
          <p:cNvPr id="19" name="Text 17"/>
          <p:cNvSpPr/>
          <p:nvPr/>
        </p:nvSpPr>
        <p:spPr>
          <a:xfrm>
            <a:off x="8365062" y="29443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0606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traces, incertitudes, reprise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103118" y="459028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valeur vient </a:t>
            </a:r>
            <a:r>
              <a:rPr lang="en-US" sz="17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moins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 “meilleur modèle” que de la structuration du choix laissés à </a:t>
            </a:r>
            <a:r>
              <a:rPr lang="en-US" sz="17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l’utilisateur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au bon moment et à la </a:t>
            </a:r>
            <a:r>
              <a:rPr lang="en-US" sz="17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variabilité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lang="en-US" sz="17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l’IA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générative</a:t>
            </a:r>
            <a:r>
              <a:rPr lang="en-US" sz="17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lang="en-US" sz="85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BB85123-42F2-A536-733C-C9FBC50CA225}"/>
              </a:ext>
            </a:extLst>
          </p:cNvPr>
          <p:cNvSpPr/>
          <p:nvPr/>
        </p:nvSpPr>
        <p:spPr>
          <a:xfrm>
            <a:off x="6641418" y="1876890"/>
            <a:ext cx="420624" cy="420624"/>
          </a:xfrm>
          <a:prstGeom prst="rect">
            <a:avLst/>
          </a:prstGeom>
          <a:solidFill>
            <a:srgbClr val="D62293"/>
          </a:solidFill>
          <a:ln>
            <a:solidFill>
              <a:srgbClr val="D6229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FRAMEWORK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WebUI: un socle technique, pas juste une UI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5" name="Image 0" descr="/mnt/data/template_unz/ppt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84" y="1877569"/>
            <a:ext cx="1170432" cy="1170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9184" y="2002874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Fournir une UX familière, tout en exposant des briques industrialisables: modèles, prompts, connaissances, skills, tools et fonctions.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37960" y="1389888"/>
            <a:ext cx="45720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ChatGPT-like pour l’adoption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Slash prompts et formulaires pour cadrer la saisie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Knowledge Bases et recherche pour relier la conversation aux corpus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Tool Calling natif pour externaliser les étapes déterministes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6384" y="4370832"/>
            <a:ext cx="10561320" cy="0"/>
          </a:xfrm>
          <a:prstGeom prst="line">
            <a:avLst/>
          </a:prstGeom>
          <a:noFill/>
          <a:ln w="1524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3" name="Image 1" descr="/mnt/data/template_unz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BA0AB68-0ED6-8098-BC21-E9A375481A55}"/>
              </a:ext>
            </a:extLst>
          </p:cNvPr>
          <p:cNvSpPr/>
          <p:nvPr/>
        </p:nvSpPr>
        <p:spPr>
          <a:xfrm>
            <a:off x="786384" y="3929127"/>
            <a:ext cx="2011680" cy="282633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508" tIns="508" rIns="508" bIns="50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Moins d’appels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B66AD75B-550A-2739-CF13-C6B076A68729}"/>
              </a:ext>
            </a:extLst>
          </p:cNvPr>
          <p:cNvSpPr/>
          <p:nvPr/>
        </p:nvSpPr>
        <p:spPr>
          <a:xfrm>
            <a:off x="3035808" y="3929127"/>
            <a:ext cx="2057400" cy="282633"/>
          </a:xfrm>
          <a:prstGeom prst="rect">
            <a:avLst/>
          </a:prstGeom>
          <a:solidFill>
            <a:srgbClr val="FDEAF6"/>
          </a:solidFill>
          <a:ln>
            <a:solidFill>
              <a:srgbClr val="FDEAF6"/>
            </a:solidFill>
          </a:ln>
        </p:spPr>
        <p:txBody>
          <a:bodyPr wrap="square" lIns="508" tIns="508" rIns="508" bIns="50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Saisie structurée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5657BFD-4BE1-C8DD-A922-28BC3AB6878D}"/>
              </a:ext>
            </a:extLst>
          </p:cNvPr>
          <p:cNvSpPr/>
          <p:nvPr/>
        </p:nvSpPr>
        <p:spPr>
          <a:xfrm>
            <a:off x="5340096" y="3929127"/>
            <a:ext cx="1737360" cy="282633"/>
          </a:xfrm>
          <a:prstGeom prst="rect">
            <a:avLst/>
          </a:prstGeom>
          <a:solidFill>
            <a:srgbClr val="E5E5E5"/>
          </a:solidFill>
          <a:ln>
            <a:solidFill>
              <a:srgbClr val="E5E5E5"/>
            </a:solidFill>
          </a:ln>
        </p:spPr>
        <p:txBody>
          <a:bodyPr wrap="square" lIns="508" tIns="508" rIns="508" bIns="50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UX familière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5070A24-0803-FB6A-EA2C-3DAA16ED9987}"/>
              </a:ext>
            </a:extLst>
          </p:cNvPr>
          <p:cNvSpPr/>
          <p:nvPr/>
        </p:nvSpPr>
        <p:spPr>
          <a:xfrm>
            <a:off x="7360920" y="3929127"/>
            <a:ext cx="1600200" cy="282633"/>
          </a:xfrm>
          <a:prstGeom prst="rect">
            <a:avLst/>
          </a:prstGeom>
          <a:solidFill>
            <a:srgbClr val="EAF6FF"/>
          </a:solidFill>
          <a:ln>
            <a:solidFill>
              <a:srgbClr val="EAF6FF"/>
            </a:solidFill>
          </a:ln>
        </p:spPr>
        <p:txBody>
          <a:bodyPr wrap="square" lIns="508" tIns="508" rIns="508" bIns="50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Découplage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A6AF8451-660F-D8A0-F80D-2F897D2E9FDA}"/>
              </a:ext>
            </a:extLst>
          </p:cNvPr>
          <p:cNvSpPr/>
          <p:nvPr/>
        </p:nvSpPr>
        <p:spPr>
          <a:xfrm>
            <a:off x="9235440" y="3929127"/>
            <a:ext cx="1417320" cy="282633"/>
          </a:xfrm>
          <a:prstGeom prst="rect">
            <a:avLst/>
          </a:prstGeom>
          <a:solidFill>
            <a:srgbClr val="FDEAF6"/>
          </a:solidFill>
          <a:ln>
            <a:solidFill>
              <a:srgbClr val="FDEAF6"/>
            </a:solidFill>
          </a:ln>
        </p:spPr>
        <p:txBody>
          <a:bodyPr wrap="square" lIns="508" tIns="508" rIns="508" bIns="508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Extensible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E88B1F7-88E0-66A1-8C11-CE530788B766}"/>
              </a:ext>
            </a:extLst>
          </p:cNvPr>
          <p:cNvSpPr/>
          <p:nvPr/>
        </p:nvSpPr>
        <p:spPr>
          <a:xfrm>
            <a:off x="1440181" y="4706111"/>
            <a:ext cx="4160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Point clé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1E8EE25E-9A08-57A3-F3AD-3A47F40E2675}"/>
              </a:ext>
            </a:extLst>
          </p:cNvPr>
          <p:cNvSpPr/>
          <p:nvPr/>
        </p:nvSpPr>
        <p:spPr>
          <a:xfrm>
            <a:off x="1440181" y="5019721"/>
            <a:ext cx="4160520" cy="9784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OWUI permet de commencer simple, puis d’externaliser la connaissance ou l’orchestration sans changer l’expérience utilisateur.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29DDFD1D-0380-A291-872A-819C1629FFB2}"/>
              </a:ext>
            </a:extLst>
          </p:cNvPr>
          <p:cNvSpPr/>
          <p:nvPr/>
        </p:nvSpPr>
        <p:spPr>
          <a:xfrm>
            <a:off x="1440181" y="6034705"/>
            <a:ext cx="4160520" cy="0"/>
          </a:xfrm>
          <a:prstGeom prst="line">
            <a:avLst/>
          </a:prstGeom>
          <a:noFill/>
          <a:ln w="2540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5BDD567A-5B5C-C619-A27C-FDA80DE5FF79}"/>
              </a:ext>
            </a:extLst>
          </p:cNvPr>
          <p:cNvSpPr/>
          <p:nvPr/>
        </p:nvSpPr>
        <p:spPr>
          <a:xfrm>
            <a:off x="6994334" y="4864608"/>
            <a:ext cx="4160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éviter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CA121AB4-D6D8-2824-6DD7-22473C076876}"/>
              </a:ext>
            </a:extLst>
          </p:cNvPr>
          <p:cNvSpPr/>
          <p:nvPr/>
        </p:nvSpPr>
        <p:spPr>
          <a:xfrm>
            <a:off x="6994334" y="5212080"/>
            <a:ext cx="4160520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Faire porter au prompt système ce qui devrait être une option utilisateur, un skill, une KB ou un tool.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44A2EA26-1AF3-B57A-F7EA-66160CCFCF3F}"/>
              </a:ext>
            </a:extLst>
          </p:cNvPr>
          <p:cNvSpPr/>
          <p:nvPr/>
        </p:nvSpPr>
        <p:spPr>
          <a:xfrm>
            <a:off x="6994334" y="5925312"/>
            <a:ext cx="4160520" cy="0"/>
          </a:xfrm>
          <a:prstGeom prst="line">
            <a:avLst/>
          </a:prstGeom>
          <a:noFill/>
          <a:ln w="25400">
            <a:solidFill>
              <a:srgbClr val="D62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3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· FRAMEWORK</a:t>
            </a:r>
            <a:endParaRPr lang="en-US" sz="95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boîte à outils Open WebUI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62235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template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154680" y="1943947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” de saisie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446867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086947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54680" y="306865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instructions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réutilisables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au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besoin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571579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4211659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154680" y="4193371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script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calcul / API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2960" y="4696291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309360" y="1962235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Knowledge Base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41080" y="1943947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corpus + recherche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2446867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09360" y="3086947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41080" y="306865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assemblage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contrôlé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09360" y="3571579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9360" y="4211659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 Function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511539" y="3991858"/>
            <a:ext cx="2545080" cy="67665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plugin python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apparaissant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un model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09360" y="4696291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5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94F45AAC-F5B1-36BB-DE5A-9A4645DE6D9F}"/>
              </a:ext>
            </a:extLst>
          </p:cNvPr>
          <p:cNvSpPr/>
          <p:nvPr/>
        </p:nvSpPr>
        <p:spPr>
          <a:xfrm>
            <a:off x="822959" y="535737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DEAEAB71-BAE9-93B4-5EEB-F38CF63DC616}"/>
              </a:ext>
            </a:extLst>
          </p:cNvPr>
          <p:cNvSpPr/>
          <p:nvPr/>
        </p:nvSpPr>
        <p:spPr>
          <a:xfrm>
            <a:off x="3154679" y="533908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Ajout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boutons sous la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réponse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 LLM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C6335E9F-9A69-F320-CA9F-F6958408F0B3}"/>
              </a:ext>
            </a:extLst>
          </p:cNvPr>
          <p:cNvSpPr/>
          <p:nvPr/>
        </p:nvSpPr>
        <p:spPr>
          <a:xfrm>
            <a:off x="6309359" y="535737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A08BE751-60C7-970A-DEA8-643B9E112545}"/>
              </a:ext>
            </a:extLst>
          </p:cNvPr>
          <p:cNvSpPr/>
          <p:nvPr/>
        </p:nvSpPr>
        <p:spPr>
          <a:xfrm>
            <a:off x="8641079" y="533908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Traitement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interceptant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inputs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outputs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AF124A59-FD7B-A20D-39C3-C69314ADE7F6}"/>
              </a:ext>
            </a:extLst>
          </p:cNvPr>
          <p:cNvSpPr/>
          <p:nvPr/>
        </p:nvSpPr>
        <p:spPr>
          <a:xfrm>
            <a:off x="839892" y="5780022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AB2AAC42-A7C3-1327-83AF-5AA7FC4DE262}"/>
              </a:ext>
            </a:extLst>
          </p:cNvPr>
          <p:cNvSpPr/>
          <p:nvPr/>
        </p:nvSpPr>
        <p:spPr>
          <a:xfrm>
            <a:off x="6326292" y="5780022"/>
            <a:ext cx="466344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</a:t>
            </a: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RAG classique au RAG agentique</a:t>
            </a: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1 — RAG pur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8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0" name="Google Shape;2213;p157">
            <a:extLst>
              <a:ext uri="{FF2B5EF4-FFF2-40B4-BE49-F238E27FC236}">
                <a16:creationId xmlns:a16="http://schemas.microsoft.com/office/drawing/2014/main" id="{10B1A90B-8690-B272-E936-BC185D1DCFC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042" y="501889"/>
            <a:ext cx="7369941" cy="599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06D3AB-F9E1-27AA-3B11-4760C3921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694CC26-C69E-B9BC-A8CC-2662D1B8965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79F805F-F4B1-D5FC-6834-4325AB289C3C}"/>
              </a:ext>
            </a:extLst>
          </p:cNvPr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1 — RAG pur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633F6A-0505-38BD-8CCA-69872D89B5D4}"/>
              </a:ext>
            </a:extLst>
          </p:cNvPr>
          <p:cNvSpPr/>
          <p:nvPr/>
        </p:nvSpPr>
        <p:spPr>
          <a:xfrm>
            <a:off x="868680" y="1600200"/>
            <a:ext cx="4800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B84B780-8375-C16F-3541-6EE7A871198B}"/>
              </a:ext>
            </a:extLst>
          </p:cNvPr>
          <p:cNvSpPr/>
          <p:nvPr/>
        </p:nvSpPr>
        <p:spPr>
          <a:xfrm>
            <a:off x="868680" y="1947672"/>
            <a:ext cx="4800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 documentaire ciblée, besoin de preuve, réponse courte ou synthèse simple.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3018600-9422-3994-5586-3F11FCDE1191}"/>
              </a:ext>
            </a:extLst>
          </p:cNvPr>
          <p:cNvSpPr/>
          <p:nvPr/>
        </p:nvSpPr>
        <p:spPr>
          <a:xfrm>
            <a:off x="868680" y="2624328"/>
            <a:ext cx="4800600" cy="0"/>
          </a:xfrm>
          <a:prstGeom prst="line">
            <a:avLst/>
          </a:prstGeom>
          <a:noFill/>
          <a:ln w="2540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4577BCD-59AE-C70A-BA8D-822572DD6504}"/>
              </a:ext>
            </a:extLst>
          </p:cNvPr>
          <p:cNvSpPr/>
          <p:nvPr/>
        </p:nvSpPr>
        <p:spPr>
          <a:xfrm>
            <a:off x="868680" y="3017520"/>
            <a:ext cx="4800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Mécanique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0E642-11DB-CE0B-C504-741DE8DBF343}"/>
              </a:ext>
            </a:extLst>
          </p:cNvPr>
          <p:cNvSpPr/>
          <p:nvPr/>
        </p:nvSpPr>
        <p:spPr>
          <a:xfrm>
            <a:off x="868680" y="3364992"/>
            <a:ext cx="4800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contexte récupéré est injecté dans le prompt via un template RAG.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6DD827-A8AB-5156-9395-425D6E98A234}"/>
              </a:ext>
            </a:extLst>
          </p:cNvPr>
          <p:cNvSpPr/>
          <p:nvPr/>
        </p:nvSpPr>
        <p:spPr>
          <a:xfrm>
            <a:off x="868680" y="3968496"/>
            <a:ext cx="4800600" cy="0"/>
          </a:xfrm>
          <a:prstGeom prst="line">
            <a:avLst/>
          </a:prstGeom>
          <a:noFill/>
          <a:ln w="25400">
            <a:solidFill>
              <a:srgbClr val="93EA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0B43AC9-3CBD-4AD3-907E-A4C2B0A0D3ED}"/>
              </a:ext>
            </a:extLst>
          </p:cNvPr>
          <p:cNvSpPr/>
          <p:nvPr/>
        </p:nvSpPr>
        <p:spPr>
          <a:xfrm>
            <a:off x="868680" y="4407408"/>
            <a:ext cx="4800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D75CF3-624F-1E89-BD0C-9DE86C09A977}"/>
              </a:ext>
            </a:extLst>
          </p:cNvPr>
          <p:cNvSpPr/>
          <p:nvPr/>
        </p:nvSpPr>
        <p:spPr>
          <a:xfrm>
            <a:off x="868680" y="4754880"/>
            <a:ext cx="4800600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 trop de chunks sont injectés, coût, latence et dilution augmentent.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63DDE85-A2E7-C6F8-2FA3-A8E883D3374A}"/>
              </a:ext>
            </a:extLst>
          </p:cNvPr>
          <p:cNvSpPr/>
          <p:nvPr/>
        </p:nvSpPr>
        <p:spPr>
          <a:xfrm>
            <a:off x="868680" y="5266944"/>
            <a:ext cx="4800600" cy="0"/>
          </a:xfrm>
          <a:prstGeom prst="line">
            <a:avLst/>
          </a:prstGeom>
          <a:noFill/>
          <a:ln w="25400">
            <a:solidFill>
              <a:srgbClr val="D62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07E516C-4850-ECF5-B4B2-4C281CA0C147}"/>
              </a:ext>
            </a:extLst>
          </p:cNvPr>
          <p:cNvSpPr/>
          <p:nvPr/>
        </p:nvSpPr>
        <p:spPr>
          <a:xfrm>
            <a:off x="662940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surveiller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5E4F719-87DB-65F9-9367-4AE648FC6DCA}"/>
              </a:ext>
            </a:extLst>
          </p:cNvPr>
          <p:cNvSpPr/>
          <p:nvPr/>
        </p:nvSpPr>
        <p:spPr>
          <a:xfrm>
            <a:off x="6629400" y="2057400"/>
            <a:ext cx="40233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chunking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embedding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reranking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seuils de similarité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re-index après changement embedding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6DF1282-DCDF-00F8-822F-005715B64FFA}"/>
              </a:ext>
            </a:extLst>
          </p:cNvPr>
          <p:cNvSpPr/>
          <p:nvPr/>
        </p:nvSpPr>
        <p:spPr>
          <a:xfrm>
            <a:off x="6629400" y="470916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5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r>
              <a:rPr kumimoji="0" lang="en-US" sz="165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ommencer</a:t>
            </a:r>
            <a:r>
              <a:rPr kumimoji="0" lang="en-US" sz="16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 le RAG pur pour les cas simples, puis passer en tools-only quand la recherche doit devenir exploratoire.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87721FB-E062-D022-D14D-8051DC8DA923}"/>
              </a:ext>
            </a:extLst>
          </p:cNvPr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8" name="Image 0" descr="/mnt/data/template_unz/ppt/media/image2.png">
            <a:extLst>
              <a:ext uri="{FF2B5EF4-FFF2-40B4-BE49-F238E27FC236}">
                <a16:creationId xmlns:a16="http://schemas.microsoft.com/office/drawing/2014/main" id="{88543F48-7C16-A71B-5E95-2E4A034CE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19" name="Text 16">
            <a:extLst>
              <a:ext uri="{FF2B5EF4-FFF2-40B4-BE49-F238E27FC236}">
                <a16:creationId xmlns:a16="http://schemas.microsoft.com/office/drawing/2014/main" id="{CDA4CC06-A1C8-B1D4-E320-C5FD914143FC}"/>
              </a:ext>
            </a:extLst>
          </p:cNvPr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6E5EB5D-B442-C307-FDF5-8825A363DA6B}"/>
              </a:ext>
            </a:extLst>
          </p:cNvPr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</a:t>
            </a: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RAG classique au RAG agentique</a:t>
            </a:r>
          </a:p>
        </p:txBody>
      </p:sp>
    </p:spTree>
    <p:extLst>
      <p:ext uri="{BB962C8B-B14F-4D97-AF65-F5344CB8AC3E}">
        <p14:creationId xmlns:p14="http://schemas.microsoft.com/office/powerpoint/2010/main" val="3947741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2 — RAG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agentique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KB as tools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57400" y="2907792"/>
            <a:ext cx="1005840" cy="0"/>
          </a:xfrm>
          <a:prstGeom prst="line">
            <a:avLst/>
          </a:prstGeom>
          <a:noFill/>
          <a:ln w="1397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224528" y="2907792"/>
            <a:ext cx="1005840" cy="0"/>
          </a:xfrm>
          <a:prstGeom prst="line">
            <a:avLst/>
          </a:prstGeom>
          <a:noFill/>
          <a:ln w="1397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82512" y="2907792"/>
            <a:ext cx="1005840" cy="0"/>
          </a:xfrm>
          <a:prstGeom prst="line">
            <a:avLst/>
          </a:prstGeom>
          <a:noFill/>
          <a:ln w="1397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549640" y="2907792"/>
            <a:ext cx="874278" cy="0"/>
          </a:xfrm>
          <a:prstGeom prst="line">
            <a:avLst/>
          </a:prstGeom>
          <a:noFill/>
          <a:ln w="1397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2240280"/>
            <a:ext cx="141732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86FF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 stable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8368" y="2679192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25496" y="2240280"/>
            <a:ext cx="141732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93EAFF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list/query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25496" y="2679192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KB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92624" y="2240280"/>
            <a:ext cx="141732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D62293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grep/view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992624" y="2679192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preuve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59752" y="2240280"/>
            <a:ext cx="141732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86FF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réponse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59752" y="2679192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citations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326880" y="2240280"/>
            <a:ext cx="1417320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suite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326880" y="2679192"/>
            <a:ext cx="14173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append-only</a:t>
            </a:r>
            <a:endParaRPr kumimoji="0" lang="en-US" sz="11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5281513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Pourquoi c’est rationnel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" y="5647273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modèle ne reçoit pas tout le corpus par défaut. Il appelle la recherche, puis lit seulement les passages nécessaires. Cela garde le préfixe plus stable et limite les tokens consommés.</a:t>
            </a:r>
            <a:endParaRPr kumimoji="0" lang="en-US" sz="16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2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868680" y="376936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classique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868680" y="414426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injecte automatiquement les passages dans le prompt. Simple, mais coûteux si la récupération est trop large.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6263640" y="376936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agentique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263640" y="4034194"/>
            <a:ext cx="4480560" cy="9272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modèle appelle des outils de recherche/lecture quand il en a besoin. Plus sobre, mais exige un bon prompt système et des tools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fiables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bien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documentés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</a:rPr>
              <a:t>Le LLM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</a:rPr>
              <a:t>utilise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</a:rPr>
              <a:t> des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</a:rPr>
              <a:t>boucles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</a:rPr>
              <a:t> de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</a:rPr>
              <a:t>raisonnement</a:t>
            </a:r>
            <a:r>
              <a:rPr lang="en-US" sz="1400" dirty="0">
                <a:solidFill>
                  <a:srgbClr val="000000"/>
                </a:solidFill>
                <a:latin typeface="Montserrat" pitchFamily="34" charset="0"/>
              </a:rPr>
              <a:t> type </a:t>
            </a:r>
            <a:r>
              <a:rPr lang="en-US" sz="1400" dirty="0" err="1">
                <a:solidFill>
                  <a:srgbClr val="000000"/>
                </a:solidFill>
                <a:latin typeface="Montserrat" pitchFamily="34" charset="0"/>
              </a:rPr>
              <a:t>ReAct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0BA35D99-5657-0766-61DB-1D87077E54C3}"/>
              </a:ext>
            </a:extLst>
          </p:cNvPr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</a:t>
            </a: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RAG classique au RAG agentique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21792" y="831586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3 — Custom tools OWUI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sortir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 </a:t>
            </a:r>
            <a:r>
              <a:rPr lang="en-US" sz="2400" b="1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déterministe</a:t>
            </a: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du prompt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Squelette minimal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4983480" cy="2011680"/>
          </a:xfrm>
          <a:prstGeom prst="rect">
            <a:avLst/>
          </a:prstGeom>
          <a:solidFill>
            <a:srgbClr val="F7F7F7"/>
          </a:solidFill>
          <a:ln>
            <a:solidFill>
              <a:srgbClr val="E5E5E5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Tools: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class Valves(BaseModel):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api_url: str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async def analyser(self, document_id: str) -&gt; str: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"""Analyse le document et retourne les écarts."""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...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799" y="1600200"/>
            <a:ext cx="5401733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fichier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Python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Docstring courte et explicite: elle guide le modèle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 hints: nécessaires pour générer un schéma fiable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Valves /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UserValves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= </a:t>
            </a: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Arguments injectés: user, messages, fichiers, OAuth, event emitter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28800" y="461772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3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tool mal </a:t>
            </a:r>
            <a:r>
              <a:rPr kumimoji="0" lang="en-US" sz="163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nommé</a:t>
            </a:r>
            <a:r>
              <a:rPr kumimoji="0" lang="en-US" sz="163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/</a:t>
            </a:r>
            <a:r>
              <a:rPr kumimoji="0" lang="en-US" sz="163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documenté</a:t>
            </a:r>
            <a:r>
              <a:rPr kumimoji="0" lang="en-US" sz="163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 trop générique est presque équivalent à un prompt mal écrit: le modèle hésite, choisit mal, ou n’appelle pas.</a:t>
            </a:r>
            <a:endParaRPr kumimoji="0" lang="en-US" sz="16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1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828800" y="5202936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3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 pas faire “un agent magique”. Faire plusieurs tools petits: rechercher, lire, comparer, générer un plan, valider une checklist, produire un livrable.</a:t>
            </a:r>
            <a:endParaRPr kumimoji="0" lang="en-US" sz="16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DF00F117-E027-1F9A-4996-CE721C36F110}"/>
              </a:ext>
            </a:extLst>
          </p:cNvPr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</a:t>
            </a: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RAG classique au RAG agentique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3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étendu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Tandem Tools + Prompt Templates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084832" y="2892552"/>
            <a:ext cx="658368" cy="0"/>
          </a:xfrm>
          <a:prstGeom prst="line">
            <a:avLst/>
          </a:prstGeom>
          <a:noFill/>
          <a:ln w="1270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2858" y="2892552"/>
            <a:ext cx="658368" cy="0"/>
          </a:xfrm>
          <a:prstGeom prst="line">
            <a:avLst/>
          </a:prstGeom>
          <a:noFill/>
          <a:ln w="1270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395637" y="2897971"/>
            <a:ext cx="658368" cy="0"/>
          </a:xfrm>
          <a:prstGeom prst="line">
            <a:avLst/>
          </a:prstGeom>
          <a:noFill/>
          <a:ln w="1270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196328" y="2897971"/>
            <a:ext cx="658368" cy="0"/>
          </a:xfrm>
          <a:prstGeom prst="line">
            <a:avLst/>
          </a:prstGeom>
          <a:noFill/>
          <a:ln w="1270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780272" y="2897971"/>
            <a:ext cx="658368" cy="0"/>
          </a:xfrm>
          <a:prstGeom prst="line">
            <a:avLst/>
          </a:prstGeom>
          <a:noFill/>
          <a:ln w="12700">
            <a:solidFill>
              <a:srgbClr val="60606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231136"/>
            <a:ext cx="132588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86FF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Formulaire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325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scope, livrable, contraintes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14016" y="2231136"/>
            <a:ext cx="132588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D62293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14016" y="2651760"/>
            <a:ext cx="1325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42232" y="2231136"/>
            <a:ext cx="132588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86FF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 humain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42232" y="2651760"/>
            <a:ext cx="1325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70448" y="2231136"/>
            <a:ext cx="132588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D62293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870448" y="2651760"/>
            <a:ext cx="1325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partie 1..n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98664" y="2231136"/>
            <a:ext cx="132588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0086FF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OK humain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98664" y="2651760"/>
            <a:ext cx="1325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revue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326880" y="2231136"/>
            <a:ext cx="1325880" cy="256032"/>
          </a:xfrm>
          <a:prstGeom prst="rect">
            <a:avLst/>
          </a:prstGeom>
          <a:solidFill>
            <a:srgbClr val="FFFFFF"/>
          </a:solidFill>
          <a:ln w="15240">
            <a:solidFill>
              <a:srgbClr val="D62293"/>
            </a:solidFill>
          </a:ln>
        </p:spPr>
        <p:txBody>
          <a:bodyPr wrap="square" lIns="254" tIns="254" rIns="254" bIns="25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2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</a:t>
            </a:r>
            <a:endParaRPr kumimoji="0" lang="en-US" sz="11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326880" y="2651760"/>
            <a:ext cx="13258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 + traces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4160520"/>
            <a:ext cx="64008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Le prompt template contraint la demande et sélectionne les bonnes options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Le tool porte la logique répétable, les accès et les contrôles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Le workflow multi-étape reste compréhensible sans coder un orchestrateur complet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L’humain valide les jalons qui changent le livrable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43800" y="4160520"/>
            <a:ext cx="3383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43800" y="4507992"/>
            <a:ext cx="3383280" cy="795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“Génère un plan de synthèse, attends validation, rédige partie par partie, puis fournis les points d’incertitude.”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43800" y="5340096"/>
            <a:ext cx="3383280" cy="0"/>
          </a:xfrm>
          <a:prstGeom prst="line">
            <a:avLst/>
          </a:prstGeom>
          <a:noFill/>
          <a:ln w="2540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7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53FE85-60EA-6622-54C0-D4D1530496F7}"/>
              </a:ext>
            </a:extLst>
          </p:cNvPr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· </a:t>
            </a:r>
            <a:r>
              <a:rPr kumimoji="0" lang="fr-FR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RAG classique au RAG agentique</a:t>
            </a:r>
          </a:p>
        </p:txBody>
      </p:sp>
    </p:spTree>
    <p:extLst>
      <p:ext uri="{BB962C8B-B14F-4D97-AF65-F5344CB8AC3E}">
        <p14:creationId xmlns:p14="http://schemas.microsoft.com/office/powerpoint/2010/main" val="444330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· Evaluation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Besoin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validation &amp;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mesure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Perf: datasets &amp; PromptFoo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58064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6" name="Image 0" descr="/mnt/data/template_unz/ppt/media/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737360"/>
            <a:ext cx="1280160" cy="1234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0" name="Image 1" descr="/mnt/data/template_unz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E237295-6503-968E-1EBE-4C79536FA44C}"/>
              </a:ext>
            </a:extLst>
          </p:cNvPr>
          <p:cNvSpPr/>
          <p:nvPr/>
        </p:nvSpPr>
        <p:spPr>
          <a:xfrm>
            <a:off x="1021080" y="1752599"/>
            <a:ext cx="5806440" cy="361949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PromptFoo: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validation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depuis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datasets avec strategies &amp;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juges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multiples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aussi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faire du red teaming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sécu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Création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d’un dataset avec le métier (csv, excel,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json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) qui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peut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accepter des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réponses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approximatives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, des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critères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</a:rPr>
              <a:t> multiples </a:t>
            </a:r>
            <a:r>
              <a:rPr lang="en-US" sz="1600" dirty="0" err="1">
                <a:solidFill>
                  <a:srgbClr val="000000"/>
                </a:solidFill>
                <a:latin typeface="Montserrat" pitchFamily="34" charset="0"/>
              </a:rPr>
              <a:t>d’acceptation</a:t>
            </a:r>
            <a:endParaRPr lang="en-US" sz="1600" dirty="0">
              <a:solidFill>
                <a:srgbClr val="000000"/>
              </a:solidFill>
              <a:latin typeface="Montserrat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sz="1600" dirty="0">
              <a:solidFill>
                <a:srgbClr val="000000"/>
              </a:solidFill>
              <a:latin typeface="Montserrat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Avoir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un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juge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fixe pour la validation et render comparable les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modèles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LLM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Montserrat"/>
              </a:rPr>
              <a:t>Une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fois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le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yaml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configurer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c’est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du bonheur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Montserrat"/>
              </a:rPr>
              <a:t>En plus de la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mesure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/validation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initiale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le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yaml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/test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PromptFoo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peut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être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réutilisé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pour non regression, </a:t>
            </a:r>
            <a:r>
              <a:rPr lang="en-US" sz="1600" dirty="0" err="1">
                <a:solidFill>
                  <a:prstClr val="black"/>
                </a:solidFill>
                <a:latin typeface="Montserrat"/>
              </a:rPr>
              <a:t>voir</a:t>
            </a:r>
            <a:r>
              <a:rPr lang="en-US" sz="1600" dirty="0">
                <a:solidFill>
                  <a:prstClr val="black"/>
                </a:solidFill>
                <a:latin typeface="Montserrat"/>
              </a:rPr>
              <a:t> de </a:t>
            </a:r>
            <a:r>
              <a:rPr lang="en-US" sz="1600" b="1" dirty="0" err="1">
                <a:solidFill>
                  <a:prstClr val="black"/>
                </a:solidFill>
                <a:latin typeface="Montserrat"/>
              </a:rPr>
              <a:t>l’optimisation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· TIPS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ailure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modes et tips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199339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modèle n’appelle pas le tool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688" y="226530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forcer le </a:t>
            </a:r>
            <a:r>
              <a:rPr kumimoji="0" lang="en-US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comportement</a:t>
            </a: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via prompt </a:t>
            </a:r>
            <a:r>
              <a:rPr kumimoji="0" lang="en-US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système</a:t>
            </a: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documentation des tools, tests et exemples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80721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tool renvoie trop de texte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2688" y="30791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résumer côté tool, pagination, limite stricte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71246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KB est mal indexée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srgbClr val="93EA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32688" y="39843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chunking, embedding, rerank, re-index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1248" y="4598571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3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L’agent a trop de droits</a:t>
            </a:r>
            <a:endParaRPr kumimoji="0" lang="en-US" sz="14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0976" y="4870481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8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scopes, secrets, confirmation, audit</a:t>
            </a:r>
            <a:endParaRPr kumimoji="0" lang="en-US" sz="128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19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Text 4"/>
          <p:cNvSpPr/>
          <p:nvPr/>
        </p:nvSpPr>
        <p:spPr>
          <a:xfrm>
            <a:off x="6565392" y="1173657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22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Tool Calling</a:t>
            </a:r>
            <a:endParaRPr lang="en-US" sz="1450" dirty="0">
              <a:solidFill>
                <a:srgbClr val="D62293"/>
              </a:solidFill>
            </a:endParaRPr>
          </a:p>
        </p:txBody>
      </p:sp>
      <p:sp>
        <p:nvSpPr>
          <p:cNvPr id="23" name="Text 5"/>
          <p:cNvSpPr/>
          <p:nvPr/>
        </p:nvSpPr>
        <p:spPr>
          <a:xfrm>
            <a:off x="6565392" y="1442459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 mode natif, la KB n’est pas forcément injectée automatiquement: le modèle doit appeler les tools de connaissance.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6565392" y="1951075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Sécurité tools</a:t>
            </a:r>
            <a:endParaRPr lang="en-US" sz="1450" dirty="0">
              <a:solidFill>
                <a:srgbClr val="0086FF"/>
              </a:solidFill>
            </a:endParaRPr>
          </a:p>
        </p:txBody>
      </p:sp>
      <p:sp>
        <p:nvSpPr>
          <p:cNvPr id="26" name="Text 8"/>
          <p:cNvSpPr/>
          <p:nvPr/>
        </p:nvSpPr>
        <p:spPr>
          <a:xfrm>
            <a:off x="6565392" y="2219877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tool OWUI peut exécuter du Python arbitraire. Restreindre permissions, secrets, réseau et scopes.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6565392" y="2752951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3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 &amp; contexte</a:t>
            </a:r>
            <a:endParaRPr lang="en-US" sz="1450" dirty="0">
              <a:solidFill>
                <a:srgbClr val="93EAFF"/>
              </a:solidFill>
            </a:endParaRPr>
          </a:p>
        </p:txBody>
      </p:sp>
      <p:sp>
        <p:nvSpPr>
          <p:cNvPr id="29" name="Text 11"/>
          <p:cNvSpPr/>
          <p:nvPr/>
        </p:nvSpPr>
        <p:spPr>
          <a:xfrm>
            <a:off x="6565392" y="3021753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Garder un préfixe stable; éviter d’injecter systématiquement des chunks ou citations qui changent à chaque tour.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6565392" y="3653809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6229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tuning</a:t>
            </a:r>
            <a:endParaRPr lang="en-US" sz="1450" dirty="0">
              <a:solidFill>
                <a:srgbClr val="D62293"/>
              </a:solidFill>
            </a:endParaRPr>
          </a:p>
        </p:txBody>
      </p:sp>
      <p:sp>
        <p:nvSpPr>
          <p:cNvPr id="32" name="Text 14"/>
          <p:cNvSpPr/>
          <p:nvPr/>
        </p:nvSpPr>
        <p:spPr>
          <a:xfrm>
            <a:off x="6565392" y="3922611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homogène, re-index si modèle d’embedding change, hybride BM25 + vector + rerank selon cas.</a:t>
            </a:r>
            <a:endParaRPr lang="en-US" sz="1350" dirty="0"/>
          </a:p>
        </p:txBody>
      </p:sp>
      <p:sp>
        <p:nvSpPr>
          <p:cNvPr id="34" name="Text 16"/>
          <p:cNvSpPr/>
          <p:nvPr/>
        </p:nvSpPr>
        <p:spPr>
          <a:xfrm>
            <a:off x="6565392" y="4586497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Événements UI</a:t>
            </a:r>
            <a:endParaRPr lang="en-US" sz="1450" dirty="0">
              <a:solidFill>
                <a:srgbClr val="0086FF"/>
              </a:solidFill>
            </a:endParaRPr>
          </a:p>
        </p:txBody>
      </p:sp>
      <p:sp>
        <p:nvSpPr>
          <p:cNvPr id="35" name="Text 17"/>
          <p:cNvSpPr/>
          <p:nvPr/>
        </p:nvSpPr>
        <p:spPr>
          <a:xfrm>
            <a:off x="6565392" y="4855299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Certains event emitters sont moins adaptés au mode natif: tester statuts, citations et confirmations.</a:t>
            </a:r>
            <a:endParaRPr lang="en-US" sz="1350" dirty="0"/>
          </a:p>
        </p:txBody>
      </p:sp>
      <p:sp>
        <p:nvSpPr>
          <p:cNvPr id="37" name="Text 19"/>
          <p:cNvSpPr/>
          <p:nvPr/>
        </p:nvSpPr>
        <p:spPr>
          <a:xfrm>
            <a:off x="6565392" y="5491931"/>
            <a:ext cx="4178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93EA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Évaluation</a:t>
            </a:r>
            <a:endParaRPr lang="en-US" sz="1450" dirty="0">
              <a:solidFill>
                <a:srgbClr val="93EAFF"/>
              </a:solidFill>
            </a:endParaRPr>
          </a:p>
        </p:txBody>
      </p:sp>
      <p:sp>
        <p:nvSpPr>
          <p:cNvPr id="38" name="Text 20"/>
          <p:cNvSpPr/>
          <p:nvPr/>
        </p:nvSpPr>
        <p:spPr>
          <a:xfrm>
            <a:off x="6565392" y="5760733"/>
            <a:ext cx="4178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Mesurer qualité, coût, latence, erreurs tool, non-appels tool, satisfaction métier.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6BB3D-0F5A-E6A7-78D1-A264DED4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FA759E-685D-F0DD-8BD6-A6D3A1D636D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33FD7F-6625-9C44-DC0C-A96DDE0501BC}"/>
              </a:ext>
            </a:extLst>
          </p:cNvPr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950" b="1" dirty="0" err="1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Exemples</a:t>
            </a: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Tools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605939-EC69-D23F-3141-634750E6AA16}"/>
              </a:ext>
            </a:extLst>
          </p:cNvPr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Types de tools utiles en entreprise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E67D7B-16F3-6FB6-B8B0-AAFCB55A1EB7}"/>
              </a:ext>
            </a:extLst>
          </p:cNvPr>
          <p:cNvSpPr/>
          <p:nvPr/>
        </p:nvSpPr>
        <p:spPr>
          <a:xfrm>
            <a:off x="786384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 grande taille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A7658B-8350-4506-E54E-C4E52A582BD9}"/>
              </a:ext>
            </a:extLst>
          </p:cNvPr>
          <p:cNvSpPr/>
          <p:nvPr/>
        </p:nvSpPr>
        <p:spPr>
          <a:xfrm>
            <a:off x="950976" y="19476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Plan/choix + lots/</a:t>
            </a: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itératifs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+ fusion/</a:t>
            </a: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formatage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212A49F-2235-95CC-0D3F-C3314FEA8D40}"/>
              </a:ext>
            </a:extLst>
          </p:cNvPr>
          <p:cNvSpPr/>
          <p:nvPr/>
        </p:nvSpPr>
        <p:spPr>
          <a:xfrm>
            <a:off x="786384" y="2395728"/>
            <a:ext cx="42519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23F38DE-C8AE-41C9-49A6-40105363308C}"/>
              </a:ext>
            </a:extLst>
          </p:cNvPr>
          <p:cNvSpPr/>
          <p:nvPr/>
        </p:nvSpPr>
        <p:spPr>
          <a:xfrm>
            <a:off x="786384" y="2816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 err="1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Outils</a:t>
            </a: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simulation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8401F43-6FF5-81DB-E7D6-44CCEF0596F5}"/>
              </a:ext>
            </a:extLst>
          </p:cNvPr>
          <p:cNvSpPr/>
          <p:nvPr/>
        </p:nvSpPr>
        <p:spPr>
          <a:xfrm>
            <a:off x="950976" y="32095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Conception simulation + </a:t>
            </a: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utilisation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kumimoji="0" lang="en-US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externe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886E907-0F14-7377-9387-E51D1C39E156}"/>
              </a:ext>
            </a:extLst>
          </p:cNvPr>
          <p:cNvSpPr/>
          <p:nvPr/>
        </p:nvSpPr>
        <p:spPr>
          <a:xfrm>
            <a:off x="786384" y="3657600"/>
            <a:ext cx="42519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01A4FD1-0336-CF8B-3940-A42EE1532350}"/>
              </a:ext>
            </a:extLst>
          </p:cNvPr>
          <p:cNvSpPr/>
          <p:nvPr/>
        </p:nvSpPr>
        <p:spPr>
          <a:xfrm>
            <a:off x="786384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Analyse conformité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E746C81-8E6B-4627-C0FA-B1B8AB08BBF9}"/>
              </a:ext>
            </a:extLst>
          </p:cNvPr>
          <p:cNvSpPr/>
          <p:nvPr/>
        </p:nvSpPr>
        <p:spPr>
          <a:xfrm>
            <a:off x="950976" y="44714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checklist, écarts, incohérences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97ADB55-6F83-4FCB-E188-0E107CC0D8C4}"/>
              </a:ext>
            </a:extLst>
          </p:cNvPr>
          <p:cNvSpPr/>
          <p:nvPr/>
        </p:nvSpPr>
        <p:spPr>
          <a:xfrm>
            <a:off x="786384" y="4919472"/>
            <a:ext cx="42519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88AB94-1961-A5E0-DAEE-E3B602E4872D}"/>
              </a:ext>
            </a:extLst>
          </p:cNvPr>
          <p:cNvSpPr/>
          <p:nvPr/>
        </p:nvSpPr>
        <p:spPr>
          <a:xfrm>
            <a:off x="6309360" y="1554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Génération documentaire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747931-89BB-6C96-A214-0CAE014CE7DB}"/>
              </a:ext>
            </a:extLst>
          </p:cNvPr>
          <p:cNvSpPr/>
          <p:nvPr/>
        </p:nvSpPr>
        <p:spPr>
          <a:xfrm>
            <a:off x="6473952" y="19476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2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</a:t>
            </a: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sections, style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28FF6F8-C0CA-1D9D-1321-4F43809B04C6}"/>
              </a:ext>
            </a:extLst>
          </p:cNvPr>
          <p:cNvSpPr/>
          <p:nvPr/>
        </p:nvSpPr>
        <p:spPr>
          <a:xfrm>
            <a:off x="6309360" y="2395728"/>
            <a:ext cx="42519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E86FE53-A850-0F02-071D-C4AE51F14447}"/>
              </a:ext>
            </a:extLst>
          </p:cNvPr>
          <p:cNvSpPr/>
          <p:nvPr/>
        </p:nvSpPr>
        <p:spPr>
          <a:xfrm>
            <a:off x="6309359" y="2816352"/>
            <a:ext cx="46806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 collaborative (multi-experts et agents IA)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723FB6D-25D9-089A-07A1-29CFFBB5C34B}"/>
              </a:ext>
            </a:extLst>
          </p:cNvPr>
          <p:cNvSpPr/>
          <p:nvPr/>
        </p:nvSpPr>
        <p:spPr>
          <a:xfrm>
            <a:off x="6473952" y="32095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Personnes + IAG + versions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625C126-FE59-8E6C-82D6-88374B1D8C47}"/>
              </a:ext>
            </a:extLst>
          </p:cNvPr>
          <p:cNvSpPr/>
          <p:nvPr/>
        </p:nvSpPr>
        <p:spPr>
          <a:xfrm>
            <a:off x="6309360" y="3657600"/>
            <a:ext cx="42519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5C09A8B-13B2-E7FD-8B96-EC1AD8386903}"/>
              </a:ext>
            </a:extLst>
          </p:cNvPr>
          <p:cNvSpPr/>
          <p:nvPr/>
        </p:nvSpPr>
        <p:spPr>
          <a:xfrm>
            <a:off x="6309360" y="40782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Intégrations apps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3137192-8A1D-8E31-18D8-70818B6627E8}"/>
              </a:ext>
            </a:extLst>
          </p:cNvPr>
          <p:cNvSpPr/>
          <p:nvPr/>
        </p:nvSpPr>
        <p:spPr>
          <a:xfrm>
            <a:off x="6473952" y="44714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2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GED, API, messagerie, traduction</a:t>
            </a:r>
            <a:endParaRPr kumimoji="0" lang="en-US" sz="1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852B62A-B939-AC81-5ED9-09418D9AF714}"/>
              </a:ext>
            </a:extLst>
          </p:cNvPr>
          <p:cNvSpPr/>
          <p:nvPr/>
        </p:nvSpPr>
        <p:spPr>
          <a:xfrm>
            <a:off x="6309360" y="4919472"/>
            <a:ext cx="425196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6B82768-6522-0DED-64B5-8F77D0B6AC2F}"/>
              </a:ext>
            </a:extLst>
          </p:cNvPr>
          <p:cNvSpPr/>
          <p:nvPr/>
        </p:nvSpPr>
        <p:spPr>
          <a:xfrm>
            <a:off x="822960" y="55321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Critère de priorisation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470123-36E4-15F0-01B5-FA26FD22C8EC}"/>
              </a:ext>
            </a:extLst>
          </p:cNvPr>
          <p:cNvSpPr/>
          <p:nvPr/>
        </p:nvSpPr>
        <p:spPr>
          <a:xfrm>
            <a:off x="3154680" y="544982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Prioriser les tools qui suppriment le plus de contexte répété ou qui fiabilisent une étape métier risquée.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B45180B-84AD-247A-AC5B-E893B23CAF57}"/>
              </a:ext>
            </a:extLst>
          </p:cNvPr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6" name="Image 0" descr="/mnt/data/template_unz/ppt/media/image2.png">
            <a:extLst>
              <a:ext uri="{FF2B5EF4-FFF2-40B4-BE49-F238E27FC236}">
                <a16:creationId xmlns:a16="http://schemas.microsoft.com/office/drawing/2014/main" id="{78E8B54B-7D16-A8EF-ED18-D181106A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7" name="Text 24">
            <a:extLst>
              <a:ext uri="{FF2B5EF4-FFF2-40B4-BE49-F238E27FC236}">
                <a16:creationId xmlns:a16="http://schemas.microsoft.com/office/drawing/2014/main" id="{117CD267-929C-1958-5599-5DE77899B59D}"/>
              </a:ext>
            </a:extLst>
          </p:cNvPr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lang="en-US" sz="850" dirty="0">
              <a:solidFill>
                <a:srgbClr val="000000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9431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ÉCOSYSTÈME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Briques open source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intégrables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6384" y="1673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RAGFlow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86384" y="209397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RAG/agents, parsing riche, API, MCP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6384" y="2907792"/>
            <a:ext cx="2926080" cy="0"/>
          </a:xfrm>
          <a:prstGeom prst="line">
            <a:avLst/>
          </a:prstGeom>
          <a:noFill/>
          <a:ln w="1905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35424" y="1673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OpenCode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35424" y="209397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de code terminal / IDE / desktop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35424" y="2907792"/>
            <a:ext cx="2926080" cy="0"/>
          </a:xfrm>
          <a:prstGeom prst="line">
            <a:avLst/>
          </a:prstGeom>
          <a:noFill/>
          <a:ln w="19050">
            <a:solidFill>
              <a:srgbClr val="93EA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84464" y="16733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OpenClaw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84464" y="209397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personnel local, messageries, skills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4464" y="2907792"/>
            <a:ext cx="2926080" cy="0"/>
          </a:xfrm>
          <a:prstGeom prst="line">
            <a:avLst/>
          </a:prstGeom>
          <a:noFill/>
          <a:ln w="19050">
            <a:solidFill>
              <a:srgbClr val="D62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86384" y="3364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LLM-Wiki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6384" y="3785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connaissance structurée comme wiki outillé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384" y="4599432"/>
            <a:ext cx="2926080" cy="0"/>
          </a:xfrm>
          <a:prstGeom prst="line">
            <a:avLst/>
          </a:prstGeom>
          <a:noFill/>
          <a:ln w="1905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35424" y="3364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Atomic Strata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35424" y="3785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profil/templates LLM-Wiki: à qualifier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35424" y="4599432"/>
            <a:ext cx="2926080" cy="0"/>
          </a:xfrm>
          <a:prstGeom prst="line">
            <a:avLst/>
          </a:prstGeom>
          <a:noFill/>
          <a:ln w="19050">
            <a:solidFill>
              <a:srgbClr val="93EA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84464" y="33649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Hermes Agent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84464" y="378561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4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mention possible, source à verrouiller</a:t>
            </a:r>
            <a:endParaRPr kumimoji="0" lang="en-US" sz="134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84464" y="4599432"/>
            <a:ext cx="2926080" cy="0"/>
          </a:xfrm>
          <a:prstGeom prst="line">
            <a:avLst/>
          </a:prstGeom>
          <a:noFill/>
          <a:ln w="19050">
            <a:solidFill>
              <a:srgbClr val="D62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Message: OWUI n’a pas vocation à tout remplacer. Son intérêt est aussi de fournir un point d’entrée qui peut appeler ou encapsuler d’autres briques.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5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Kube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serveur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proto à la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Plateforme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IA en cubes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" y="1645920"/>
            <a:ext cx="5779008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8408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Instances Open </a:t>
            </a: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WebUI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8408" y="21762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WebUI / autres UI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8408" y="24185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tools, fonctions, workflows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242048" y="1645920"/>
            <a:ext cx="2578608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D6229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79208" y="1810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D62293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Connaissance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79208" y="217627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KB, index, graph/wiki, RAGFlow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1248" y="3840480"/>
            <a:ext cx="2578608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02D3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8408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 err="1">
                <a:ln>
                  <a:noFill/>
                </a:ln>
                <a:solidFill>
                  <a:srgbClr val="102D3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Middlewares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8408" y="4370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GED, API, apps métier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041648" y="3840480"/>
            <a:ext cx="2578608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178808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78808" y="4370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gateway, quotas, routing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42048" y="3840480"/>
            <a:ext cx="2578608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79208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Gouvernance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9208" y="43708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RBAC, logs, eval, sécurité</a:t>
            </a:r>
            <a:endParaRPr kumimoji="0" lang="en-US" sz="12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012680" y="1700784"/>
            <a:ext cx="0" cy="3474720"/>
          </a:xfrm>
          <a:prstGeom prst="line">
            <a:avLst/>
          </a:prstGeom>
          <a:noFill/>
          <a:ln w="1651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7" name="Image 0" descr="/mnt/data/template_unz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229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A6406-86A6-C2CF-9FEE-C26102FE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846A9E9-6992-606F-0E5B-1779515086C3}"/>
              </a:ext>
            </a:extLst>
          </p:cNvPr>
          <p:cNvSpPr/>
          <p:nvPr/>
        </p:nvSpPr>
        <p:spPr>
          <a:xfrm>
            <a:off x="621792" y="530352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50" b="1" dirty="0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086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· </a:t>
            </a:r>
            <a:r>
              <a:rPr lang="en-US" sz="950" b="1" dirty="0" err="1">
                <a:solidFill>
                  <a:srgbClr val="0086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1225F0-EB8F-A954-2776-7F5043E4CE6D}"/>
              </a:ext>
            </a:extLst>
          </p:cNvPr>
          <p:cNvSpPr/>
          <p:nvPr/>
        </p:nvSpPr>
        <p:spPr>
          <a:xfrm>
            <a:off x="621792" y="82296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Optimisation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03855A6-FEE8-A459-4987-862F1734DD5A}"/>
              </a:ext>
            </a:extLst>
          </p:cNvPr>
          <p:cNvSpPr/>
          <p:nvPr/>
        </p:nvSpPr>
        <p:spPr>
          <a:xfrm>
            <a:off x="594360" y="6455664"/>
            <a:ext cx="11018520" cy="0"/>
          </a:xfrm>
          <a:prstGeom prst="line">
            <a:avLst/>
          </a:prstGeom>
          <a:noFill/>
          <a:ln w="10160">
            <a:solidFill>
              <a:srgbClr val="E5E5E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27" name="Image 0" descr="/mnt/data/template_unz/ppt/media/image2.png">
            <a:extLst>
              <a:ext uri="{FF2B5EF4-FFF2-40B4-BE49-F238E27FC236}">
                <a16:creationId xmlns:a16="http://schemas.microsoft.com/office/drawing/2014/main" id="{CD5CDE3D-47E2-8D68-BD5D-9F087AECC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6528816"/>
            <a:ext cx="210312" cy="182880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DCED2E9D-632F-455C-194E-EB5E9492ECF1}"/>
              </a:ext>
            </a:extLst>
          </p:cNvPr>
          <p:cNvSpPr/>
          <p:nvPr/>
        </p:nvSpPr>
        <p:spPr>
          <a:xfrm>
            <a:off x="11265408" y="65288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r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</a:rPr>
              <a:t>/18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3E8B1812-1BD5-B540-84C9-C3C8049FB7B9}"/>
              </a:ext>
            </a:extLst>
          </p:cNvPr>
          <p:cNvSpPr/>
          <p:nvPr/>
        </p:nvSpPr>
        <p:spPr>
          <a:xfrm>
            <a:off x="868679" y="1600199"/>
            <a:ext cx="9611751" cy="39741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Tools, system prompt &amp; skills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optimisés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DSPy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OpenTrace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GEPA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OptimizeAnything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avec un feedback sur des datasets.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Possibilité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multi-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réponse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tokens/turns.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NEXT: finetuning de petits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SLM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depuis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traces de gros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967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932688"/>
            <a:ext cx="109728" cy="4343400"/>
          </a:xfrm>
          <a:prstGeom prst="rect">
            <a:avLst/>
          </a:prstGeom>
          <a:solidFill>
            <a:srgbClr val="0086FF"/>
          </a:solidFill>
          <a:ln w="12700">
            <a:solidFill>
              <a:srgbClr val="008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0927080" y="987552"/>
            <a:ext cx="109728" cy="4251960"/>
          </a:xfrm>
          <a:prstGeom prst="rect">
            <a:avLst/>
          </a:prstGeom>
          <a:solidFill>
            <a:srgbClr val="93EAFF"/>
          </a:solidFill>
          <a:ln w="12700">
            <a:solidFill>
              <a:srgbClr val="93EA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51560" y="13716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15568" y="2423160"/>
            <a:ext cx="856327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l’observation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workflows métier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Découpler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connaissance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prompts et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outils</a:t>
            </a:r>
            <a:endParaRPr lang="en-US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Déplacer le déterministe dans les tools et un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guidage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“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templatisé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” avec HITL (human-in-the-loop)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Garder le modèle sur le raisonnement et la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synthèse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Standardiser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les entrées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avant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multiplier les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modèles</a:t>
            </a:r>
            <a:endParaRPr lang="en-US" sz="2000" dirty="0"/>
          </a:p>
          <a:p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Mesurer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coût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latence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qualité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=&gt; PromptFoo pour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valider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et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évoluer</a:t>
            </a: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sans </a:t>
            </a:r>
            <a:r>
              <a:rPr lang="en-US" sz="200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régression</a:t>
            </a:r>
            <a:endParaRPr lang="en-US" sz="20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97280" y="4864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93EA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pic>
        <p:nvPicPr>
          <p:cNvPr id="7" name="Image 0" descr="/mnt/data/template_unz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815584"/>
            <a:ext cx="256032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6142</TotalTime>
  <Words>1716</Words>
  <Application>Microsoft Office PowerPoint</Application>
  <PresentationFormat>Grand écran</PresentationFormat>
  <Paragraphs>288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Aptos</vt:lpstr>
      <vt:lpstr>Aptos Mono</vt:lpstr>
      <vt:lpstr>Arial</vt:lpstr>
      <vt:lpstr>Montserrat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Naval Group / Meetup Lorient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Tools, agentique et RAG sous Open WebUI</dc:subject>
  <dc:creator>OpenAI</dc:creator>
  <cp:lastModifiedBy>xavier.daull@naval-group.com</cp:lastModifiedBy>
  <cp:revision>30</cp:revision>
  <dcterms:created xsi:type="dcterms:W3CDTF">2026-09-11T09:00:51Z</dcterms:created>
  <dcterms:modified xsi:type="dcterms:W3CDTF">2026-09-28T12:18:03Z</dcterms:modified>
</cp:coreProperties>
</file>